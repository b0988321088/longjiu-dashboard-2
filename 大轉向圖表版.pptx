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Lbls>
            <c:txPr>
              <a:bodyPr/>
              <a:lstStyle/>
              <a:p>
                <a:pPr>
                  <a:defRPr>
                    <a:solidFill>
                      <a:srgbClr val="FFFFFF"/>
                    </a:solidFill>
                    <a:latin typeface="Microsoft JhengHei"/>
                  </a:defRPr>
                </a:pPr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台股成長 15.2%</c:v>
                </c:pt>
                <c:pt idx="1">
                  <c:v>美股成長 33.7%</c:v>
                </c:pt>
                <c:pt idx="2">
                  <c:v>防守配息 12.4%</c:v>
                </c:pt>
                <c:pt idx="3">
                  <c:v>債券 19.4%</c:v>
                </c:pt>
                <c:pt idx="4">
                  <c:v>現金 19.2%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15.2</c:v>
                </c:pt>
                <c:pt idx="1">
                  <c:v>33.7</c:v>
                </c:pt>
                <c:pt idx="2">
                  <c:v>12.4</c:v>
                </c:pt>
                <c:pt idx="3">
                  <c:v>19.4</c:v>
                </c:pt>
                <c:pt idx="4">
                  <c:v>19.2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>
              <a:solidFill>
                <a:srgbClr val="FFFFFF"/>
              </a:solidFill>
              <a:latin typeface="Microsoft Jheng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Lbls>
            <c:txPr>
              <a:bodyPr/>
              <a:lstStyle/>
              <a:p>
                <a:pPr>
                  <a:defRPr>
                    <a:solidFill>
                      <a:srgbClr val="FFFFFF"/>
                    </a:solidFill>
                    <a:latin typeface="Microsoft JhengHei"/>
                  </a:defRPr>
                </a:pPr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台股 35%</c:v>
                </c:pt>
                <c:pt idx="1">
                  <c:v>美股 30%</c:v>
                </c:pt>
                <c:pt idx="2">
                  <c:v>防守 25%</c:v>
                </c:pt>
                <c:pt idx="3">
                  <c:v>債券 5%</c:v>
                </c:pt>
                <c:pt idx="4">
                  <c:v>現金 5%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30</c:v>
                </c:pt>
                <c:pt idx="2">
                  <c:v>25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>
              <a:solidFill>
                <a:srgbClr val="FFFFFF"/>
              </a:solidFill>
              <a:latin typeface="Microsoft Jheng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持股市值(萬)</c:v>
                </c:pt>
              </c:strCache>
            </c:strRef>
          </c:tx>
          <c:dLbls>
            <c:txPr>
              <a:bodyPr/>
              <a:lstStyle/>
              <a:p>
                <a:pPr>
                  <a:defRPr>
                    <a:solidFill>
                      <a:srgbClr val="FFFFFF"/>
                    </a:solidFill>
                    <a:latin typeface="Microsoft Jheng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0050</c:v>
                </c:pt>
                <c:pt idx="1">
                  <c:v>006208</c:v>
                </c:pt>
                <c:pt idx="2">
                  <c:v>00878</c:v>
                </c:pt>
                <c:pt idx="3">
                  <c:v>009816</c:v>
                </c:pt>
                <c:pt idx="4">
                  <c:v>00919</c:v>
                </c:pt>
                <c:pt idx="5">
                  <c:v>00713</c:v>
                </c:pt>
                <c:pt idx="6">
                  <c:v>0056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20.1</c:v>
                </c:pt>
                <c:pt idx="1">
                  <c:v>46.6</c:v>
                </c:pt>
                <c:pt idx="2">
                  <c:v>48.8</c:v>
                </c:pt>
                <c:pt idx="3">
                  <c:v>26.4</c:v>
                </c:pt>
                <c:pt idx="4">
                  <c:v>17.8</c:v>
                </c:pt>
                <c:pt idx="5">
                  <c:v>12.2</c:v>
                </c:pt>
                <c:pt idx="6">
                  <c:v>5.0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FFFFFF"/>
                </a:solidFill>
                <a:latin typeface="Microsoft Jheng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  <a:latin typeface="Microsoft Jheng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利率(%)</c:v>
                </c:pt>
              </c:strCache>
            </c:strRef>
          </c:tx>
          <c:dLbls>
            <c:txPr>
              <a:bodyPr/>
              <a:lstStyle/>
              <a:p>
                <a:pPr>
                  <a:defRPr>
                    <a:solidFill>
                      <a:srgbClr val="FFFFFF"/>
                    </a:solidFill>
                    <a:latin typeface="Microsoft Jheng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保單借貸
5%</c:v>
                </c:pt>
                <c:pt idx="1">
                  <c:v>市場房貸
~6.5%</c:v>
                </c:pt>
                <c:pt idx="2">
                  <c:v>理財型
4.0%</c:v>
                </c:pt>
                <c:pt idx="3">
                  <c:v>質押
3.9%</c:v>
                </c:pt>
                <c:pt idx="4">
                  <c:v>築巢
2.185%</c:v>
                </c:pt>
                <c:pt idx="5">
                  <c:v>國泰週轉
2.6%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5.0</c:v>
                </c:pt>
                <c:pt idx="1">
                  <c:v>6.5</c:v>
                </c:pt>
                <c:pt idx="2">
                  <c:v>4.0</c:v>
                </c:pt>
                <c:pt idx="3">
                  <c:v>3.9</c:v>
                </c:pt>
                <c:pt idx="4">
                  <c:v>2.185</c:v>
                </c:pt>
                <c:pt idx="5">
                  <c:v>2.6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FFFFFF"/>
                </a:solidFill>
                <a:latin typeface="Microsoft Jheng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  <a:latin typeface="Microsoft Jheng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美元資產價值(萬)</c:v>
                </c:pt>
              </c:strCache>
            </c:strRef>
          </c:tx>
          <c:dLbls>
            <c:txPr>
              <a:bodyPr/>
              <a:lstStyle/>
              <a:p>
                <a:pPr>
                  <a:defRPr>
                    <a:solidFill>
                      <a:srgbClr val="FFFFFF"/>
                    </a:solidFill>
                    <a:latin typeface="Microsoft Jheng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台幣28</c:v>
                </c:pt>
                <c:pt idx="1">
                  <c:v>台幣29</c:v>
                </c:pt>
                <c:pt idx="2">
                  <c:v>台幣30</c:v>
                </c:pt>
                <c:pt idx="3">
                  <c:v>台幣31</c:v>
                </c:pt>
                <c:pt idx="4">
                  <c:v>台幣32(目前)</c:v>
                </c:pt>
                <c:pt idx="5">
                  <c:v>台幣33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1237</c:v>
                </c:pt>
                <c:pt idx="1">
                  <c:v>1281</c:v>
                </c:pt>
                <c:pt idx="2">
                  <c:v>1325</c:v>
                </c:pt>
                <c:pt idx="3">
                  <c:v>1369</c:v>
                </c:pt>
                <c:pt idx="4">
                  <c:v>1414</c:v>
                </c:pt>
                <c:pt idx="5">
                  <c:v>1458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FFFFFF"/>
                </a:solidFill>
                <a:latin typeface="Microsoft Jheng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  <a:latin typeface="Microsoft Jheng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適合度</c:v>
                </c:pt>
              </c:strCache>
            </c:strRef>
          </c:tx>
          <c:dLbls>
            <c:txPr>
              <a:bodyPr/>
              <a:lstStyle/>
              <a:p>
                <a:pPr>
                  <a:defRPr>
                    <a:solidFill>
                      <a:srgbClr val="FFFFFF"/>
                    </a:solidFill>
                    <a:latin typeface="Microsoft Jheng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情境A：升息</c:v>
                </c:pt>
                <c:pt idx="1">
                  <c:v>情境B：高原</c:v>
                </c:pt>
                <c:pt idx="2">
                  <c:v>情境C：降息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100</c:v>
                </c:pt>
                <c:pt idx="2">
                  <c:v>85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FFFFFF"/>
                </a:solidFill>
                <a:latin typeface="Microsoft Jheng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  <a:latin typeface="Microsoft Jheng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投入金額(萬)</c:v>
                </c:pt>
              </c:strCache>
            </c:strRef>
          </c:tx>
          <c:dLbls>
            <c:txPr>
              <a:bodyPr/>
              <a:lstStyle/>
              <a:p>
                <a:pPr>
                  <a:defRPr>
                    <a:solidFill>
                      <a:srgbClr val="FFFFFF"/>
                    </a:solidFill>
                    <a:latin typeface="Microsoft Jheng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本週行動</c:v>
                </c:pt>
                <c:pt idx="1">
                  <c:v>7~8月</c:v>
                </c:pt>
                <c:pt idx="2">
                  <c:v>9月轉貸</c:v>
                </c:pt>
                <c:pt idx="3">
                  <c:v>Q4起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70</c:v>
                </c:pt>
                <c:pt idx="2">
                  <c:v>65</c:v>
                </c:pt>
                <c:pt idx="3">
                  <c:v>10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FFFFFF"/>
                </a:solidFill>
                <a:latin typeface="Microsoft Jheng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  <a:latin typeface="Microsoft Jheng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大轉向前的資產配置策略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7A01C"/>
                </a:solidFill>
              </a:defRPr>
            </a:pPr>
            <a:r>
              <a:t>USD/TWD 32.38 ｜ 台股崩跌 2,000 點 ｜ 10yr 4.60%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A8FA0"/>
                </a:solidFill>
              </a:defRPr>
            </a:pPr>
            <a:r>
              <a:t>龍九控股 · 2026-07-29 ｜ Chief Secretary + CIO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目前資產配置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A8FA0"/>
                </a:solidFill>
              </a:defRPr>
            </a:pPr>
            <a:r>
              <a:t>台股不足20pp + 現金過多14pp = 雙重問題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37160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2743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目標配置對照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0" y="1371600"/>
          <a:ext cx="50292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5943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7A01C"/>
                </a:solidFill>
              </a:defRPr>
            </a:pPr>
            <a:r>
              <a:t>→ 台股需 +65 萬  ｜  現金須 -151 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ETF 持股分析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A8FA0"/>
                </a:solidFill>
              </a:defRPr>
            </a:pPr>
            <a:r>
              <a:t>今日崩跌後：本益比 ~14 倍，極度便宜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66928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4D399"/>
                </a:solidFill>
              </a:defRPr>
            </a:pPr>
            <a:r>
              <a:t>✅ 不動：0050/006208/00878/009816/00713/00919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7A01C"/>
                </a:solidFill>
              </a:defRPr>
            </a:pPr>
            <a:r>
              <a:t>⚠️ 觀察：0056(凍結) ｜ ❌ 不買VT（安聯已全球分散）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💡 加碼：00983D +70萬 ｜ 00878/00919 +30萬 ｜ 009816 +20萬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債務結構 vs 市場利率 6-7%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A8FA0"/>
                </a:solidFill>
              </a:defRPr>
            </a:pPr>
            <a:r>
              <a:t>您的平均 ~2.5%，比市場低 3.5pp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66928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🏠 您的築巢 2.185% 比市場低 4.3pp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F5C5C"/>
                </a:solidFill>
              </a:defRPr>
            </a:pPr>
            <a:r>
              <a:t>🔴 4筆保單借貸@5% → 9月清償年省20萬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7A01C"/>
                </a:solidFill>
              </a:defRPr>
            </a:pPr>
            <a:r>
              <a:t>💰 年省利息約85萬 vs 市場利率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匯率 USD/TWD：結構性弱勢保護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A8FA0"/>
                </a:solidFill>
              </a:defRPr>
            </a:pPr>
            <a:r>
              <a:t>81% 美元曝險 = 台幣貶值時您的資產自動增值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66928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✅ 目前 32.38 = 結構性優勢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7A01C"/>
                </a:solidFill>
              </a:defRPr>
            </a:pPr>
            <a:r>
              <a:t>⚠️ 不需因匯率調整投資，長期持有即可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三種情境 × 您的準備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A8FA0"/>
                </a:solidFill>
              </a:defRPr>
            </a:pPr>
            <a:r>
              <a:t>A:升息20% ｜ B:高原50% ⭐ ｜ C:降息30%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4572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03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</a:defRPr>
            </a:pPr>
            <a:r>
              <a:t>🔴 A 升息：00983D抗跌 + 160萬防守 = 80分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7A01C"/>
                </a:solidFill>
              </a:defRPr>
            </a:pPr>
            <a:r>
              <a:t>⭐ B 高原：00983D 7.1% + 台股加碼 = 100分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34D399"/>
                </a:solidFill>
              </a:defRPr>
            </a:pPr>
            <a:r>
              <a:t>🟢 C 降息：160萬子彈 + 美股資產升值 = 85分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🏠 三情境下房貸 2.41% 都不受影響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行動時間表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7A01C"/>
                </a:solidFill>
              </a:defRPr>
            </a:pPr>
            <a:r>
              <a:t>今日崩跌 = 更好的買點，冷靜執行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303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📅 本週：00878+00919 +30萬 ｜ 009816/0050 +20萬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📅 7-8月：00983D每週10張 +70萬（月配7K）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📅 9月：築巢清償保單年省20萬 + 台股+65萬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4D399"/>
                </a:solidFill>
              </a:defRPr>
            </a:pPr>
            <a:r>
              <a:t>📅 Q4：現金160萬戰備 ｜ 年化被動收入+15~18萬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結論：三層保護傘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7A01C"/>
                </a:solidFill>
              </a:defRPr>
            </a:pPr>
            <a:r>
              <a:t>台幣弱勢保護 + 低利房貸紅利 + 充足現金子彈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🔥 大轉向來臨時：升息有匯率保護 ｜ 高原有配息收 ｜ 降息有子彈加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34D399"/>
                </a:solidFill>
              </a:defRPr>
            </a:pPr>
            <a:r>
              <a:t>年化增加被動收入 15~18 萬  ｜  22 個月安全期  ｜  不用恐慌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