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8FA0"/>
                </a:solidFill>
              </a:defRPr>
            </a:pPr>
            <a:r>
              <a:t>龍九控股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退休後人生規劃評估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00400"/>
            <a:ext cx="3657600" cy="36576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8FA0"/>
                </a:solidFill>
              </a:defRPr>
            </a:pPr>
            <a:r>
              <a:t>50 歲離開台電後的財務可行性 × 事業可能性 × 生活型態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2026 年 7 月 26 日 ｜ 龍九控股 CIO 策略研究室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01 · 現狀回顧：退休前的財務準備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02 · 退休可行性：何時可以離開台電？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03 · 侍親留停策略：身份保留的過渡方案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7432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04 · 退休後收入結構模擬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05 · 方向一：房地產資產管理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747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06 · 方向二：AI 系統＋投資組合管理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840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07 · 方向三：小型創業／顧問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206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08 · 方向四：被動生活 — 專注家庭與成長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5720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09 · 風險評估與應變方案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937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8F0"/>
                </a:solidFill>
              </a:defRPr>
            </a:pPr>
            <a:r>
              <a:t>10 · 總結：建議路徑圖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退休前財務準備：被動月收 198K 已達基本門檻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轉貸後月盈餘 +102K，財務緩衝充足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目前被動月收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D399"/>
                </a:solidFill>
              </a:defRPr>
            </a:pPr>
            <a:r>
              <a:t>198,396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房租 80K + 配息 118K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64592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轉貸後月盈餘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A01C"/>
                </a:solidFill>
              </a:defRPr>
            </a:pPr>
            <a:r>
              <a:t>+102,259 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651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築巢優利貸 2.185% 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64592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17830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月基本生活費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21031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A8FA0"/>
                </a:solidFill>
              </a:defRPr>
            </a:pPr>
            <a:r>
              <a:t>~145,000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26517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轉貸後房貸 49.8K + 生活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429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總資產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74903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50,689,930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29767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含不動產 33.3M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329184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0" y="3429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負債率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74903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7A01C"/>
                </a:solidFill>
              </a:defRPr>
            </a:pPr>
            <a:r>
              <a:t>~35%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29767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轉貸清償後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3291840"/>
            <a:ext cx="3200400" cy="13716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19" y="34290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台電月薪佔比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19" y="3749039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8A8FA0"/>
                </a:solidFill>
              </a:defRPr>
            </a:pPr>
            <a:r>
              <a:t>~17%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19" y="4297679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8FA0"/>
                </a:solidFill>
              </a:defRPr>
            </a:pPr>
            <a:r>
              <a:t>43K / 247K 總收入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50 歲退休財務可行，被動收入已覆蓋基本生活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月被動 198K vs 基本生活費 145K，覆蓋率 137%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立即退休（50 歲）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被動 198K － 生活 145K ＝ +53K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D399"/>
                </a:solidFill>
              </a:defRPr>
            </a:pPr>
            <a:r>
              <a:t>✅ 可立即執行，但無台電信用紅利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54864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A01C"/>
                </a:solidFill>
              </a:defRPr>
            </a:pPr>
            <a:r>
              <a:t>侍親留停 1-3 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保留身份＋復職彈性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971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7A01C"/>
                </a:solidFill>
              </a:defRPr>
            </a:pPr>
            <a:r>
              <a:t>✅ 最推薦：保留退路，月省通勤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023360"/>
            <a:ext cx="54864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半退休（留職停薪）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被動 198K + 兼職 20-30K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D399"/>
                </a:solidFill>
              </a:defRPr>
            </a:pPr>
            <a:r>
              <a:t>✅ 最穩健：現金流充裕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21208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212080"/>
            <a:ext cx="54864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9BF7"/>
                </a:solidFill>
              </a:defRPr>
            </a:pPr>
            <a:r>
              <a:t>55 歲正式退休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被動 250K↑（第三站到位）+ 勞保年金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349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B9BF7"/>
                </a:solidFill>
              </a:defRPr>
            </a:pPr>
            <a:r>
              <a:t>✅ 最安全，但晚 5 年自由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侍親留停為最優過渡方案：保留身份＋維持信用紅利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台電身份是借貸利率低 1-2% 的關鍵，不留可惜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560320" cy="41148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256032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保留公務員身份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復職彈性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借貸利率優惠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年資不中斷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645920"/>
            <a:ext cx="2560320" cy="41148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645920"/>
            <a:ext cx="256032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A01C"/>
                </a:solidFill>
              </a:defRPr>
            </a:pPr>
            <a:r>
              <a:t>每月現金流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46888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被動 198K（不需動用存款）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留停期間無薪資 43K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但仍多出 ~53K/月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645920"/>
            <a:ext cx="2560320" cy="41148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645920"/>
            <a:ext cx="256032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B9BF7"/>
                </a:solidFill>
              </a:defRPr>
            </a:pPr>
            <a:r>
              <a:t>留停期間可以做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46888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管理資產組合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學習新技能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嘗試微型創業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35440" y="1645920"/>
            <a:ext cx="2560320" cy="41148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645920"/>
            <a:ext cx="2560320" cy="54864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</a:defRPr>
            </a:pPr>
            <a:r>
              <a:t>復職門檻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468880"/>
            <a:ext cx="2194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侍親事由最寬鬆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1-3 年後可選擇復職或正式退休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退休後收入結構穩健，三層現金流保護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即使股市大跌 30%，配息收入仍可維持基本生活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第一層：房租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80,100/月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最穩定，不受股市影響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783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D399"/>
                </a:solidFill>
              </a:defRPr>
            </a:pPr>
            <a:r>
              <a:t>佔 40%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B9BF7"/>
                </a:solidFill>
              </a:defRPr>
            </a:pPr>
            <a:r>
              <a:t>第二層：保單配息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926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~106,500/月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清償後全額實領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971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B9BF7"/>
                </a:solidFill>
              </a:defRPr>
            </a:pPr>
            <a:r>
              <a:t>佔 54%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A01C"/>
                </a:solidFill>
              </a:defRPr>
            </a:pPr>
            <a:r>
              <a:t>第三層：ETF 股息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4114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~17,200/月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00919/00878/00983D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4160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7A01C"/>
                </a:solidFill>
              </a:defRPr>
            </a:pPr>
            <a:r>
              <a:t>佔 9%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30352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440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7A01C"/>
                </a:solidFill>
              </a:defRPr>
            </a:pPr>
            <a:r>
              <a:t>🧪 壓力測試：若股市跌 30%（ETF 股息減半 8.6K）→ 總被動仍達 195K，&gt; 基本生活費 145K ✅</a:t>
            </a:r>
          </a:p>
          <a:p>
            <a:pPr>
              <a:spcAft>
                <a:spcPts val="400"/>
              </a:spcAft>
              <a:defRPr sz="1300">
                <a:solidFill>
                  <a:srgbClr val="F7A01C"/>
                </a:solidFill>
              </a:defRPr>
            </a:pPr>
            <a:r>
              <a:t>   若房租掉 20%（64K）→ 總被動 173K，仍 &gt; 145K ✅</a:t>
            </a:r>
          </a:p>
          <a:p>
            <a:pPr>
              <a:spcAft>
                <a:spcPts val="400"/>
              </a:spcAft>
              <a:defRPr sz="1300">
                <a:solidFill>
                  <a:srgbClr val="F7A01C"/>
                </a:solidFill>
              </a:defRPr>
            </a:pPr>
            <a:r>
              <a:t>   雙重打擊（股跌 30% + 房租跌 20%）→ 153K，仍勉強覆蓋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方向一：房地產資產管理 — 被動收租＋活化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現有 3 間房產月收 80K，尚有優化空間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</a:defRPr>
            </a:pPr>
            <a:r>
              <a:t>大義街店面 24K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737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穩定收租，確認租約到期日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7A01C"/>
                </a:solidFill>
              </a:defRPr>
            </a:pPr>
            <a:r>
              <a:t>考慮調整租金至行情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</a:defRPr>
            </a:pPr>
            <a:r>
              <a:t>大義街二三樓 23K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2651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含管理費，租客穩定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7A01C"/>
                </a:solidFill>
              </a:defRPr>
            </a:pPr>
            <a:r>
              <a:t>維持現狀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</a:defRPr>
            </a:pPr>
            <a:r>
              <a:t>洲際W 33K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5661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台中蛋黃區，增值潛力大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7A01C"/>
                </a:solidFill>
              </a:defRPr>
            </a:pPr>
            <a:r>
              <a:t>長期持有，租金隨市調漲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891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805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</a:defRPr>
            </a:pPr>
            <a:r>
              <a:t>房貸清償策略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448055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轉貸後月付 49.8K（寬限期 23.9K）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4805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7A01C"/>
                </a:solidFill>
              </a:defRPr>
            </a:pPr>
            <a:r>
              <a:t>寬限期內多餘現金可投資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9495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E8F0"/>
                </a:solidFill>
              </a:defRPr>
            </a:pPr>
            <a:r>
              <a:t>下一步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5394959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8FA0"/>
                </a:solidFill>
              </a:defRPr>
            </a:pPr>
            <a:r>
              <a:t>觀察台中租屋市場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3949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7A01C"/>
                </a:solidFill>
              </a:defRPr>
            </a:pPr>
            <a:r>
              <a:t>考慮增購第二間收租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方向二：AI 系統＋投資組合管理 — 最適合您的技能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已有完整的龍九自動化系統，可複製或諮詢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5029200" cy="41148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7A01C"/>
                </a:solidFill>
              </a:defRPr>
            </a:pPr>
            <a:r>
              <a:t>可以做什麼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🔹 個人/家族辦公室 AI 系統顧問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   為高資產個人建立類似龍九的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   自動化日報 + 資產監控系統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🔹 投資組合管理（自己的錢）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   每日花 30 分鐘檢視日報 + 調整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   真正的「被動管理」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🔹 財經內容創作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   部落格/YouTube 分享 FIRE 經驗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   台電＋投資＋AI 管線的獨特組合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645920"/>
            <a:ext cx="5029200" cy="41148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為什麼適合您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37744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✅ 已經有完整系統（龍九）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✅ 不需要額外資本投入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✅ 時間彈性，可在家工作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✅ 與 AI 技術發展同步成長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✅ 可規模化（從一套系統→多套）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📊 收入預估：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   兼職：20-50K/月（數位內容）</a:t>
            </a:r>
          </a:p>
          <a:p>
            <a:pPr>
              <a:spcAft>
                <a:spcPts val="400"/>
              </a:spcAft>
              <a:defRPr sz="1300">
                <a:solidFill>
                  <a:srgbClr val="E8E8F0"/>
                </a:solidFill>
              </a:defRPr>
            </a:pPr>
            <a:r>
              <a:t>   全職：80-150K/月（顧問＋系統）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方向三：小型創業／顧問 — 利用台電專業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電力產業＋工程背景是獨特優勢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4864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A01C"/>
                </a:solidFill>
              </a:defRPr>
            </a:pPr>
            <a:r>
              <a:t>節能顧問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用台電經驗協助中小企業節電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783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每月 3-5 案，收入 30-60K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3464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834640"/>
            <a:ext cx="54864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B9BF7"/>
                </a:solidFill>
              </a:defRPr>
            </a:pPr>
            <a:r>
              <a:t>太陽能/綠能仲介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屋頂太陽能案場開發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971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B9BF7"/>
                </a:solidFill>
              </a:defRPr>
            </a:pPr>
            <a:r>
              <a:t>每件佣金 10-50K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2336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023360"/>
            <a:ext cx="54864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</a:defRPr>
            </a:pPr>
            <a:r>
              <a:t>電力安全講師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工安/用電安全課程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160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</a:defRPr>
            </a:pPr>
            <a:r>
              <a:t>每場 3-8K，每月 5-10 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212080"/>
            <a:ext cx="10972800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212080"/>
            <a:ext cx="54864" cy="9144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水電工程統包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303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小型修繕/裝潢水電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349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月收入 40-80K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方向四：被動生活 — 專注家庭與成長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財務已自由，退休也可以是單純的生活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0515600" cy="411480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E8E8F0"/>
                </a:solidFill>
              </a:defRPr>
            </a:pPr>
            <a:r>
              <a:t>🏠 家庭優先：結婚、生子、陪伴父母</a:t>
            </a:r>
          </a:p>
          <a:p>
            <a:pPr>
              <a:spcAft>
                <a:spcPts val="400"/>
              </a:spcAft>
              <a:defRPr sz="1500">
                <a:solidFill>
                  <a:srgbClr val="E8E8F0"/>
                </a:solidFill>
              </a:defRPr>
            </a:pPr>
            <a:r>
              <a:t>   財務上已驗證可行（月盈餘 53K-102K）</a:t>
            </a:r>
          </a:p>
          <a:p>
            <a:pPr>
              <a:spcAft>
                <a:spcPts val="400"/>
              </a:spcAft>
              <a:defRPr sz="1500">
                <a:solidFill>
                  <a:srgbClr val="E8E8F0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E8E8F0"/>
                </a:solidFill>
              </a:defRPr>
            </a:pPr>
            <a:r>
              <a:t>📚 學習成長：</a:t>
            </a:r>
          </a:p>
          <a:p>
            <a:pPr>
              <a:spcAft>
                <a:spcPts val="400"/>
              </a:spcAft>
              <a:defRPr sz="1500">
                <a:solidFill>
                  <a:srgbClr val="E8E8F0"/>
                </a:solidFill>
              </a:defRPr>
            </a:pPr>
            <a:r>
              <a:t>   深度學習投資知識（巴菲特/蒙格體系）</a:t>
            </a:r>
          </a:p>
          <a:p>
            <a:pPr>
              <a:spcAft>
                <a:spcPts val="400"/>
              </a:spcAft>
              <a:defRPr sz="1500">
                <a:solidFill>
                  <a:srgbClr val="E8E8F0"/>
                </a:solidFill>
              </a:defRPr>
            </a:pPr>
            <a:r>
              <a:t>   學習第二專長（程式/語言/不動產）</a:t>
            </a:r>
          </a:p>
          <a:p>
            <a:pPr>
              <a:spcAft>
                <a:spcPts val="400"/>
              </a:spcAft>
              <a:defRPr sz="1500">
                <a:solidFill>
                  <a:srgbClr val="E8E8F0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E8E8F0"/>
                </a:solidFill>
              </a:defRPr>
            </a:pPr>
            <a:r>
              <a:t>🌏 生活型態：</a:t>
            </a:r>
          </a:p>
          <a:p>
            <a:pPr>
              <a:spcAft>
                <a:spcPts val="400"/>
              </a:spcAft>
              <a:defRPr sz="1500">
                <a:solidFill>
                  <a:srgbClr val="E8E8F0"/>
                </a:solidFill>
              </a:defRPr>
            </a:pPr>
            <a:r>
              <a:t>   每年 2-3 次出國（月盈餘完全足夠）</a:t>
            </a:r>
          </a:p>
          <a:p>
            <a:pPr>
              <a:spcAft>
                <a:spcPts val="400"/>
              </a:spcAft>
              <a:defRPr sz="1500">
                <a:solidFill>
                  <a:srgbClr val="E8E8F0"/>
                </a:solidFill>
              </a:defRPr>
            </a:pPr>
            <a:r>
              <a:t>   台中生活成本低，品質高</a:t>
            </a:r>
          </a:p>
          <a:p>
            <a:pPr>
              <a:spcAft>
                <a:spcPts val="400"/>
              </a:spcAft>
              <a:defRPr sz="1500">
                <a:solidFill>
                  <a:srgbClr val="E8E8F0"/>
                </a:solidFill>
              </a:defRPr>
            </a:pPr>
          </a:p>
          <a:p>
            <a:pPr>
              <a:spcAft>
                <a:spcPts val="400"/>
              </a:spcAft>
              <a:defRPr sz="1500">
                <a:solidFill>
                  <a:srgbClr val="E8E8F0"/>
                </a:solidFill>
              </a:defRPr>
            </a:pPr>
            <a:r>
              <a:t>💡 微型收入：</a:t>
            </a:r>
          </a:p>
          <a:p>
            <a:pPr>
              <a:spcAft>
                <a:spcPts val="400"/>
              </a:spcAft>
              <a:defRPr sz="1500">
                <a:solidFill>
                  <a:srgbClr val="E8E8F0"/>
                </a:solidFill>
              </a:defRPr>
            </a:pPr>
            <a:r>
              <a:t>   不需要全職工作，但可以保留 1-2 個興趣項目</a:t>
            </a:r>
          </a:p>
          <a:p>
            <a:pPr>
              <a:spcAft>
                <a:spcPts val="400"/>
              </a:spcAft>
              <a:defRPr sz="1500">
                <a:solidFill>
                  <a:srgbClr val="E8E8F0"/>
                </a:solidFill>
              </a:defRPr>
            </a:pPr>
            <a:r>
              <a:t>   創造意義感＋小額收入（10-20K）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</a:defRPr>
            </a:pPr>
            <a:r>
              <a:t>風險評估：退休規劃最怕長壽風險與通膨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8FA0"/>
                </a:solidFill>
              </a:defRPr>
            </a:pPr>
            <a:r>
              <a:t>被動收入需隨通膨調整，每 5 年重新檢視一次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C5C"/>
                </a:solidFill>
              </a:defRPr>
            </a:pPr>
            <a:r>
              <a:t>長壽風險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活到 90 歲，40 年開銷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被動收入每年調升 2% 對抗通膨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房租下跌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經濟衰退租金降 20%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第二層保單配息仍穩定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保單配息縮水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基金淨值下跌影響配息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分散 3 家 + 核心衛星配置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891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805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健康突發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4805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重大醫療支出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4805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理財型額度 3M 備援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0352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949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7A01C"/>
                </a:solidFill>
              </a:defRPr>
            </a:pPr>
            <a:r>
              <a:t>太早無聊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3949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8FA0"/>
                </a:solidFill>
              </a:defRPr>
            </a:pPr>
            <a:r>
              <a:t>退休後失去生活重心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39495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建議先留停試水溫，不急著全退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結論：50 歲退休可行，建議先侍親留停試水溫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2743200" cy="27432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💰  財務已達標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508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被動月收 198K &gt; 生活費 145K，覆蓋率 137%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7A01C"/>
                </a:solidFill>
              </a:defRPr>
            </a:pPr>
            <a:r>
              <a:t>🛡️  建議路徑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423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侍親留停 1-3 年 → 保留身份 → 再決定是否正式退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291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B9BF7"/>
                </a:solidFill>
              </a:defRPr>
            </a:pPr>
            <a:r>
              <a:t>🎯  退休後方向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337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管理資產＋AI 系統＋微型創業（非必須）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10972800" cy="731520"/>
          </a:xfrm>
          <a:prstGeom prst="rect">
            <a:avLst/>
          </a:prstGeom>
          <a:solidFill>
            <a:srgbClr val="15182E"/>
          </a:solidFill>
          <a:ln w="12700">
            <a:solidFill>
              <a:srgbClr val="1E22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06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5C5C"/>
                </a:solidFill>
              </a:defRPr>
            </a:pPr>
            <a:r>
              <a:t>⚠️  關鍵提醒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251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F0"/>
                </a:solidFill>
              </a:defRPr>
            </a:pPr>
            <a:r>
              <a:t>轉貸計劃完成後再執行退休決策，確保現金流最大化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