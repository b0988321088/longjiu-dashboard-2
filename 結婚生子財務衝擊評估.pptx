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A0"/>
                </a:solidFill>
              </a:defRPr>
            </a:pPr>
            <a:r>
              <a:t>龍九控股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結婚生子財務衝擊評估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3657600" cy="36576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8FA0"/>
                </a:solidFill>
              </a:defRPr>
            </a:pPr>
            <a:r>
              <a:t>家庭擴張對龍九控股資產負債與現金流的影響分析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2026 年 7 月 26 日 ｜ 三種情境：基本／適度／全面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01 · 現狀回顧：當前財務基本面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02 · 情境設定：結婚＋生子的三種劇本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03 · 一次性支出分析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04 · 每月經常性支出變化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05 · 轉貸計劃對沖效果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06 · 三情境結果對照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07 · 總結與建議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當前財務基本面：月淨現金流 -4,099，轉貸後將翻正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總資產 50.7M｜負債率 41.8%｜被動月收 198K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總資產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A01C"/>
                </a:solidFill>
              </a:defRPr>
            </a:pPr>
            <a:r>
              <a:t>50,006,262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含不動產 33.3M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64592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總負債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16,218,870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房貸 13,159,422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64592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月被動收入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198,396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房租 80K + 配息 118K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29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月薪資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4903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A01C"/>
                </a:solidFill>
              </a:defRPr>
            </a:pPr>
            <a:r>
              <a:t>43,144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9767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台電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329184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429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月支出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74903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~210,958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9767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轉貸後 ~145K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29184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19" y="3429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關鍵變數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374903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轉貸 +102K/月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429767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轉貸後現金流充沛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29200"/>
            <a:ext cx="105156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166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7A01C"/>
                </a:solidFill>
              </a:defRPr>
            </a:pPr>
            <a:r>
              <a:t>💡 轉貸計劃若順利執行（築巢優利貸 2.185%＋清償保單借貸），月淨現金流可達 +102,259</a:t>
            </a:r>
          </a:p>
          <a:p>
            <a:pPr>
              <a:spcAft>
                <a:spcPts val="400"/>
              </a:spcAft>
              <a:defRPr sz="1400">
                <a:solidFill>
                  <a:srgbClr val="F7A01C"/>
                </a:solidFill>
              </a:defRPr>
            </a:pPr>
            <a:r>
              <a:t>   這筆盈餘將是未來結婚生子的主要財源緩衝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三種情境假設：婚禮規模與子女人數為核心變數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依台灣中位數婚禮/育兒成本設定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474720" cy="41148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基本方案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💒 登記＋小宴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👶 1 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00400"/>
            <a:ext cx="310896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一次性支出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657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約 30 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📊 每月經常性增支 月增 2 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645920"/>
            <a:ext cx="3474720" cy="41148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645920"/>
            <a:ext cx="347472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A01C"/>
                </a:solidFill>
              </a:defRPr>
            </a:pPr>
            <a:r>
              <a:t>適度方案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💒 中型婚宴 20 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👶 1-2 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00400"/>
            <a:ext cx="310896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一次性支出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657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A01C"/>
                </a:solidFill>
              </a:defRPr>
            </a:pPr>
            <a:r>
              <a:t>約 80 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📊 每月經常性增支 月增 4 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645920"/>
            <a:ext cx="3474720" cy="41148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645920"/>
            <a:ext cx="347472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C5C"/>
                </a:solidFill>
              </a:defRPr>
            </a:pPr>
            <a:r>
              <a:t>全面方案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💒 傳統婚禮 30 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👶 2 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3200400"/>
            <a:ext cx="310896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19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一次性支出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19" y="3657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約 150 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📊 每月經常性增支 月增 6 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126480"/>
            <a:ext cx="10515600" cy="4572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數據來源：行政院主計總處婚禮/育兒費用統計 + 台北市保母/幼稚園均價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一次性支出 30~150 萬，可從轉貸資金支應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不影響日常現金流，屬可控制一次性支出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9728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8F0"/>
                </a:solidFill>
              </a:defRPr>
            </a:pPr>
            <a:r>
              <a:t>婚宴場地 + 酒席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A01C"/>
                </a:solidFill>
              </a:defRPr>
            </a:pPr>
            <a:r>
              <a:t>15~60 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20~30 桌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109728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8F0"/>
                </a:solidFill>
              </a:defRPr>
            </a:pPr>
            <a:r>
              <a:t>婚紗攝影 + 新秘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A01C"/>
                </a:solidFill>
              </a:defRPr>
            </a:pPr>
            <a:r>
              <a:t>5~15 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含婚紗/新秘/攝錄影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109728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8F0"/>
                </a:solidFill>
              </a:defRPr>
            </a:pPr>
            <a:r>
              <a:t>戒指 + 金飾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A01C"/>
                </a:solidFill>
              </a:defRPr>
            </a:pPr>
            <a:r>
              <a:t>3~10 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對戒＋龍鳳掛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109728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8F0"/>
                </a:solidFill>
              </a:defRPr>
            </a:pPr>
            <a:r>
              <a:t>蜜月旅行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A01C"/>
                </a:solidFill>
              </a:defRPr>
            </a:pPr>
            <a:r>
              <a:t>5~15 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日本/歐洲 7-10 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109728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8F0"/>
                </a:solidFill>
              </a:defRPr>
            </a:pPr>
            <a:r>
              <a:t>月子中心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A01C"/>
                </a:solidFill>
              </a:defRPr>
            </a:pPr>
            <a:r>
              <a:t>10~20 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30 天，台北市均價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03520"/>
            <a:ext cx="109728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8F0"/>
                </a:solidFill>
              </a:defRPr>
            </a:pPr>
            <a:r>
              <a:t>新生兒用品 + 醫療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3949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A01C"/>
                </a:solidFill>
              </a:defRPr>
            </a:pPr>
            <a:r>
              <a:t>2~5 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嬰兒車/床/安全座椅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126480"/>
            <a:ext cx="10515600" cy="4572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7A01C"/>
                </a:solidFill>
              </a:defRPr>
            </a:pPr>
            <a:r>
              <a:t>💡 轉貸後保留的理財型額度 3M，足以支應任何情境的一次性支出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每月經常性支出增 2~6 萬，轉貸後現金流仍充裕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轉貸後月盈餘 +102K，足以覆蓋育兒支出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972800" cy="6400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8F0"/>
                </a:solidFill>
              </a:defRPr>
            </a:pPr>
            <a:r>
              <a:t>保母費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A01C"/>
                </a:solidFill>
              </a:defRPr>
            </a:pPr>
            <a:r>
              <a:t>15,000~22,000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全日托，台北市均價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10972800" cy="6400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8F0"/>
                </a:solidFill>
              </a:defRPr>
            </a:pPr>
            <a:r>
              <a:t>奶粉 + 尿布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A01C"/>
                </a:solidFill>
              </a:defRPr>
            </a:pPr>
            <a:r>
              <a:t>4,000~6,000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514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新生兒基本開銷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10972800" cy="6400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8F0"/>
                </a:solidFill>
              </a:defRPr>
            </a:pPr>
            <a:r>
              <a:t>幼稚園學費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A01C"/>
                </a:solidFill>
              </a:defRPr>
            </a:pPr>
            <a:r>
              <a:t>12,000~18,000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私立幼稚園月均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77639"/>
            <a:ext cx="10972800" cy="6400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690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8F0"/>
                </a:solidFill>
              </a:defRPr>
            </a:pPr>
            <a:r>
              <a:t>醫療 + 保險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0690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A01C"/>
                </a:solidFill>
              </a:defRPr>
            </a:pPr>
            <a:r>
              <a:t>2,000~5,000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0690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自費疫苗/健檢/兒醫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54880"/>
            <a:ext cx="10972800" cy="6400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8F0"/>
                </a:solidFill>
              </a:defRPr>
            </a:pPr>
            <a:r>
              <a:t>教育基金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A01C"/>
                </a:solidFill>
              </a:defRPr>
            </a:pPr>
            <a:r>
              <a:t>5,000~10,000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每月儲蓄/006208定投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669280"/>
            <a:ext cx="105156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806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7A01C"/>
                </a:solidFill>
              </a:defRPr>
            </a:pPr>
            <a:r>
              <a:t>💡 每月新增支出頂標約 6 萬，轉貸後月盈餘 +102K，覆蓋率 170%</a:t>
            </a:r>
          </a:p>
          <a:p>
            <a:pPr>
              <a:spcAft>
                <a:spcPts val="400"/>
              </a:spcAft>
              <a:defRPr sz="1300">
                <a:solidFill>
                  <a:srgbClr val="F7A01C"/>
                </a:solidFill>
              </a:defRPr>
            </a:pPr>
            <a:r>
              <a:t>   若採用適度方案（月增 4 萬），盈餘仍剩 62K，安全邊際充足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轉貸計劃是關鍵對沖工具：月釋放 106K 現金流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築巢優利貸 2.185%＋清償保單借貸為核心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C5C"/>
                </a:solidFill>
              </a:defRPr>
            </a:pPr>
            <a:r>
              <a:t>轉貸前（現狀）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月收入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206,859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月支出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210,958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月淨現金流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5C5C"/>
                </a:solidFill>
              </a:defRPr>
            </a:pPr>
            <a:r>
              <a:t>-4,099 ⚠️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645920"/>
            <a:ext cx="5029200" cy="41148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轉貸後（10月起）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月收入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247,559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月支出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145,300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月淨現金流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</a:defRPr>
            </a:pPr>
            <a:r>
              <a:t>+102,259 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126480"/>
            <a:ext cx="10515600" cy="4572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7A01C"/>
                </a:solidFill>
              </a:defRPr>
            </a:pPr>
            <a:r>
              <a:t>結論：轉貸後每月盈餘 +102K，即使頂標育兒支出 60K，仍剩 42K 緩衝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寬限期過後月付 53,803，比現狀仍省 45,655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築巢優利貸寬限期 3 年（利息月付 23,961），每省下的錢可用於育兒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200400" cy="16459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現狀月付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99,458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永豐三筆房貸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645920"/>
            <a:ext cx="3200400" cy="16459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寬限期月付 1-3年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23,961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僅利息，省 75,497/月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645920"/>
            <a:ext cx="3200400" cy="16459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寬限期後月付 4-30年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A01C"/>
                </a:solidFill>
              </a:defRPr>
            </a:pPr>
            <a:r>
              <a:t>53,803 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比現狀省 45,655/月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10515600" cy="27432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A01C"/>
                </a:solidFill>
              </a:defRPr>
            </a:pPr>
            <a:r>
              <a:t>三種情境 vs 寬限期前後對照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  <a:r>
              <a:t>情境／月現金流          寬限期（1-3年）    寬限期後（4年起）</a:t>
            </a: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  <a:r>
              <a:t>─────────────────────────────────────────</a:t>
            </a: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  <a:r>
              <a:t>基本方案：月增 2 萬      +82K → +140K ✅   +82K → +85K ✅</a:t>
            </a: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  <a:r>
              <a:t>適度方案：月增 4 萬      +62K → +120K ✅   +62K → +63K ✅</a:t>
            </a: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  <a:r>
              <a:t>全面方案：月增 6 萬      +42K → +100K ✅   +42K → +43K ✅</a:t>
            </a: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  <a:r>
              <a:t>💡 結論：寬限期內現金流極度充裕，寬限期後即使月付回升至 53,803</a:t>
            </a:r>
          </a:p>
          <a:p>
            <a:pPr>
              <a:spcAft>
                <a:spcPts val="400"/>
              </a:spcAft>
              <a:defRPr sz="1200">
                <a:solidFill>
                  <a:srgbClr val="E8E8F0"/>
                </a:solidFill>
              </a:defRPr>
            </a:pPr>
            <a:r>
              <a:t>   仍低於現狀 99,458，全情境安全無虞。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三情境結果對照：即使全面方案仍在安全範圍內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轉貸後月盈餘 +102K vs 最低育兒增支 20K vs 最高 60K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474720" cy="41148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基本方案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310896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一次性支出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30 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74720"/>
            <a:ext cx="310896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6118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月經常性增支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931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20K/月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</a:defRPr>
            </a:pPr>
            <a:r>
              <a:t>剩餘現金流 +82K/月 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</a:defRPr>
            </a:pPr>
            <a:r>
              <a:t>風險級別：極安全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645920"/>
            <a:ext cx="3474720" cy="41148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645920"/>
            <a:ext cx="347472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A01C"/>
                </a:solidFill>
              </a:defRPr>
            </a:pPr>
            <a:r>
              <a:t>適度方案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377440"/>
            <a:ext cx="310896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一次性支出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A01C"/>
                </a:solidFill>
              </a:defRPr>
            </a:pPr>
            <a:r>
              <a:t>80 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474720"/>
            <a:ext cx="310896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6118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月經常性增支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931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A01C"/>
                </a:solidFill>
              </a:defRPr>
            </a:pPr>
            <a:r>
              <a:t>40K/月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7A01C"/>
                </a:solidFill>
              </a:defRPr>
            </a:pPr>
            <a:r>
              <a:t>剩餘現金流 +62K/月 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7A01C"/>
                </a:solidFill>
              </a:defRPr>
            </a:pPr>
            <a:r>
              <a:t>風險級別：安全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645920"/>
            <a:ext cx="3474720" cy="41148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645920"/>
            <a:ext cx="347472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9BF7"/>
                </a:solidFill>
              </a:defRPr>
            </a:pPr>
            <a:r>
              <a:t>全面方案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2377440"/>
            <a:ext cx="310896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19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一次性支出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19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B9BF7"/>
                </a:solidFill>
              </a:defRPr>
            </a:pPr>
            <a:r>
              <a:t>150 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3474720"/>
            <a:ext cx="310896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19" y="36118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月經常性增支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9" y="3931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B9BF7"/>
                </a:solidFill>
              </a:defRPr>
            </a:pPr>
            <a:r>
              <a:t>60K/月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F7"/>
                </a:solidFill>
              </a:defRPr>
            </a:pPr>
            <a:r>
              <a:t>剩餘現金流 +42K/月 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B9BF7"/>
                </a:solidFill>
              </a:defRPr>
            </a:pPr>
            <a:r>
              <a:t>風險級別：可控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126480"/>
            <a:ext cx="10515600" cy="4572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7A01C"/>
                </a:solidFill>
              </a:defRPr>
            </a:pPr>
            <a:r>
              <a:t>💡 最壞情境（全面方案）每月仍剩 42K 緩衝，相當於 3 個月基本生活費的安全邊際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結論：結婚生子財務可行，關鍵在轉貸計劃順利執行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💰  現金流充足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508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轉貸後月盈餘 +102K，即使頂標支出仍剩 42K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9BF7"/>
                </a:solidFill>
              </a:defRPr>
            </a:pPr>
            <a:r>
              <a:t>🛡️  一次性支出有解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423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理財型額度 3M 備援，不影響現金流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A01C"/>
                </a:solidFill>
              </a:defRPr>
            </a:pPr>
            <a:r>
              <a:t>📈  育兒有充裕緩衝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337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保母/幼稚園月均 3-4 萬，只佔盈餘 30-40%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C5C"/>
                </a:solidFill>
              </a:defRPr>
            </a:pPr>
            <a:r>
              <a:t>⚠️  風險因子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轉貸若延遲將壓縮緩衝空間，需確保 9/25 前完成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