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月收入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轉貸前</c:v>
                </c:pt>
                <c:pt idx="1">
                  <c:v>轉貸後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206.9</c:v>
                </c:pt>
                <c:pt idx="1">
                  <c:v>247.6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月支出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轉貸前</c:v>
                </c:pt>
                <c:pt idx="1">
                  <c:v>轉貸後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211.0</c:v>
                </c:pt>
                <c:pt idx="1">
                  <c:v>145.3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8FA0"/>
                </a:solidFill>
              </a:defRPr>
            </a:pPr>
            <a:r>
              <a:t>龍九控股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轉貸投資可行性評估計劃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00400"/>
            <a:ext cx="3657600" cy="36576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8FA0"/>
                </a:solidFill>
              </a:defRPr>
            </a:pPr>
            <a:r>
              <a:t>以低利資金 2.185% 優化負債結構 × 提升被動現金流 +106K/月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2026 年 7 月 26 日 ｜ 評估期間：2026 Q3–Q4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01 · 核心問題：每月現金流缺口 -4,099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02 · 資產負債結構：負債率 41.8%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03 · 轉貸方案：築巢優利貸 2.185% 為最優解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04 · 三階段部署：清償 → 安全網 → 擴張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05 · 第一階段：清償 4M 高利負債，月省 16K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4747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06 · 第二階段：保留 3M 額度，建立緩衝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840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07 · 第三階段：低利套利，目標報酬 &gt;6%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06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08 · ETF 建倉策略：00983D/00919/00878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5720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09 · 保單第三站：PIMCO+AI+A10 月配 17.5K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937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10 · 執行時間表：7 月至 12 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303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11 · 預期成效：月淨現金流 +102,259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6692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12 · 風險分析與緩解措施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035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13 · 結論：每月從 -4,099 到 +102,259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每月現金流缺口 -4,099，保單利息吃掉 16,000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保單借貸利率 ~5% 為最高成本負債，每月利息相當於一筆房貸月付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200400" cy="13716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月總收入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7A01C"/>
                </a:solidFill>
              </a:defRPr>
            </a:pPr>
            <a:r>
              <a:t>206,859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薪資+房租+配息+股息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645920"/>
            <a:ext cx="3200400" cy="13716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783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月總支出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5C5C"/>
                </a:solidFill>
              </a:defRPr>
            </a:pPr>
            <a:r>
              <a:t>210,958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6517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房貸+利息+信用卡+生活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645920"/>
            <a:ext cx="3200400" cy="13716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19" y="1783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月缺口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5C5C"/>
                </a:solidFill>
              </a:defRPr>
            </a:pPr>
            <a:r>
              <a:t>-4,099 ⚠️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26517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需仰賴配息填補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91840"/>
            <a:ext cx="3200400" cy="13716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4290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保單借貸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49039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5C5C"/>
                </a:solidFill>
              </a:defRPr>
            </a:pPr>
            <a:r>
              <a:t>4,000,000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9767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利率 ~5% 最高成本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3291840"/>
            <a:ext cx="3200400" cy="13716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34290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月保單利息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749039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5C5C"/>
                </a:solidFill>
              </a:defRPr>
            </a:pPr>
            <a:r>
              <a:t>-16,000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29767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吃掉配息 18%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3291840"/>
            <a:ext cx="3200400" cy="13716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19" y="34290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若清償後月省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19" y="3749039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D399"/>
                </a:solidFill>
              </a:defRPr>
            </a:pPr>
            <a:r>
              <a:t>+16,000 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19" y="429767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配息實收 73K→89K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029200"/>
            <a:ext cx="10515600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212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7A01C"/>
                </a:solidFill>
              </a:defRPr>
            </a:pPr>
            <a:r>
              <a:t>💡 轉貸資金成本僅 2.185%，而保單借貸利率 ~5%。每清償 100 萬保單借貸，年省利息 ~50,000。</a:t>
            </a:r>
          </a:p>
          <a:p>
            <a:pPr>
              <a:spcAft>
                <a:spcPts val="400"/>
              </a:spcAft>
              <a:defRPr sz="1400">
                <a:solidFill>
                  <a:srgbClr val="F7A01C"/>
                </a:solidFill>
              </a:defRPr>
            </a:pPr>
            <a:r>
              <a:t>   清償 400 萬保單借貸 = 年省 192,000 利息 = 每月多 16,000 現金流。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築巢優利貸 2.185% 為最優解，月省 49,658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三方案比較：現狀 vs 國泰轉貸 vs 築巢優利貸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200400" cy="16459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現狀：永豐房貸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5C5C"/>
                </a:solidFill>
              </a:defRPr>
            </a:pPr>
            <a:r>
              <a:t>99,458/月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利率 ~2.5% ｜ 三筆分散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645920"/>
            <a:ext cx="3200400" cy="16459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783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方案 B：國泰轉貸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7A01C"/>
                </a:solidFill>
              </a:defRPr>
            </a:pPr>
            <a:r>
              <a:t>52,500/月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926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利率 2.6% ｜ 次佳選擇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645920"/>
            <a:ext cx="3200400" cy="16459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19" y="1783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方案 A：築巢優利貸 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D399"/>
                </a:solidFill>
              </a:defRPr>
            </a:pPr>
            <a:r>
              <a:t>49,800/月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2926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利率 2.185% ｜ 公務員專案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57600"/>
            <a:ext cx="10515600" cy="24688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7A01C"/>
                </a:solidFill>
              </a:defRPr>
            </a:pPr>
            <a:r>
              <a:t>為什麼推薦築巢優利貸？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891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✅ 公務員身份符合，資格審查無虞</a:t>
            </a:r>
          </a:p>
          <a:p>
            <a:pPr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✅ 2.185% 為市場最低房貸利率區間，鎖定固定利率不受升息影響</a:t>
            </a:r>
          </a:p>
          <a:p>
            <a:pPr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✅ 月付從 99,458 降至 49,800，月釋放 49,658 現金流</a:t>
            </a:r>
          </a:p>
          <a:p>
            <a:pPr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✅ 轉貸資金同時清償 4M 高利保單借貸，月再省 16,000</a:t>
            </a:r>
          </a:p>
          <a:p>
            <a:pPr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⚠️ 9/25 現有房貸到期，需在此之前完成轉貸程序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三階段資金部署：清償→安全網→低利擴張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總資金 ~7M，目標月現金流改善 +106,358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474720" cy="45720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474720" cy="54864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第一階段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</a:defRPr>
            </a:pPr>
            <a:r>
              <a:t>清償高利負債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4,000,000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D399"/>
                </a:solidFill>
              </a:defRPr>
            </a:pPr>
            <a:r>
              <a:t>+16,000/月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8A8FA0"/>
                </a:solidFill>
              </a:defRPr>
            </a:pPr>
            <a:r>
              <a:t>安聯A 2M</a:t>
            </a:r>
          </a:p>
          <a:p>
            <a:pPr>
              <a:spcAft>
                <a:spcPts val="400"/>
              </a:spcAft>
              <a:defRPr sz="1200">
                <a:solidFill>
                  <a:srgbClr val="8A8FA0"/>
                </a:solidFill>
              </a:defRPr>
            </a:pPr>
            <a:r>
              <a:t>安聯B 1M</a:t>
            </a:r>
          </a:p>
          <a:p>
            <a:pPr>
              <a:spcAft>
                <a:spcPts val="400"/>
              </a:spcAft>
              <a:defRPr sz="1200">
                <a:solidFill>
                  <a:srgbClr val="8A8FA0"/>
                </a:solidFill>
              </a:defRPr>
            </a:pPr>
            <a:r>
              <a:t>第一金 1M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645920"/>
            <a:ext cx="3474720" cy="45720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645920"/>
            <a:ext cx="3474720" cy="54864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第二階段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B9BF7"/>
                </a:solidFill>
              </a:defRPr>
            </a:pPr>
            <a:r>
              <a:t>建立安全網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3,100,000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9BF7"/>
                </a:solidFill>
              </a:defRPr>
            </a:pPr>
            <a:r>
              <a:t>備援無虞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0233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8A8FA0"/>
                </a:solidFill>
              </a:defRPr>
            </a:pPr>
            <a:r>
              <a:t>保留理財型額度 3M</a:t>
            </a:r>
          </a:p>
          <a:p>
            <a:pPr>
              <a:spcAft>
                <a:spcPts val="400"/>
              </a:spcAft>
              <a:defRPr sz="1200">
                <a:solidFill>
                  <a:srgbClr val="8A8FA0"/>
                </a:solidFill>
              </a:defRPr>
            </a:pPr>
            <a:r>
              <a:t>星展備用金 100K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645920"/>
            <a:ext cx="3474720" cy="45720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645920"/>
            <a:ext cx="3474720" cy="54864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第三階段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7A01C"/>
                </a:solidFill>
              </a:defRPr>
            </a:pPr>
            <a:r>
              <a:t>低利擴張投資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~3,000,000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7A01C"/>
                </a:solidFill>
              </a:defRPr>
            </a:pPr>
            <a:r>
              <a:t>+7,200↑/月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0233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8A8FA0"/>
                </a:solidFill>
              </a:defRPr>
            </a:pPr>
            <a:r>
              <a:t>ETF 分批建倉</a:t>
            </a:r>
          </a:p>
          <a:p>
            <a:pPr>
              <a:spcAft>
                <a:spcPts val="400"/>
              </a:spcAft>
              <a:defRPr sz="1200">
                <a:solidFill>
                  <a:srgbClr val="8A8FA0"/>
                </a:solidFill>
              </a:defRPr>
            </a:pPr>
            <a:r>
              <a:t>保單第三站 400 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清償 4M 高利負債，月省 16,000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保單配息實收從 73,000 提升至 89,000，年化節省 192,000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E8F0"/>
                </a:solidFill>
              </a:defRPr>
            </a:pPr>
            <a:r>
              <a:t>安聯A 保單借貸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2,000,000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~5%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~8,000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1752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E8F0"/>
                </a:solidFill>
              </a:defRPr>
            </a:pPr>
            <a:r>
              <a:t>安聯B 保單借貸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1,000,000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~5%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~4,000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0624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E8F0"/>
                </a:solidFill>
              </a:defRPr>
            </a:pPr>
            <a:r>
              <a:t>第一金 FL65 保單借貸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2976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1,000,000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42976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~5%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42976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~4,000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0292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166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D399"/>
                </a:solidFill>
              </a:defRPr>
            </a:pPr>
            <a:r>
              <a:t>✅ 清償後保單配息全額實領，無提前清償違約金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保留 3M 額度 + 補足備用金 100K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不動用不計息，保留財務韌性以因應黑天鵝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E8F0"/>
                </a:solidFill>
              </a:defRPr>
            </a:pPr>
            <a:r>
              <a:t>保留理財型額度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3,000,000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備而不用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9BF7"/>
                </a:solidFill>
              </a:defRPr>
            </a:pPr>
            <a:r>
              <a:t>黑天鵝緩衝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1752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E8F0"/>
                </a:solidFill>
              </a:defRPr>
            </a:pPr>
            <a:r>
              <a:t>星展活存補足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100,000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目前 17K→100K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9BF7"/>
                </a:solidFill>
              </a:defRPr>
            </a:pPr>
            <a:r>
              <a:t>6個月生活費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0292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166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D399"/>
                </a:solidFill>
              </a:defRPr>
            </a:pPr>
            <a:r>
              <a:t>✅ 理財型房貸特色：隨借隨還，按日計息，最適合緊急備援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低利套利 2.185%，目標報酬率 &gt;6%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資金成本 2.185%  vs  目標資產報酬率 6-8%  →  利差 ~4%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54864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台股 ETF 核心建倉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~1,200,000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逐月買入 00983D/00919/00878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+7,200/月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83280"/>
            <a:ext cx="10972800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383280"/>
            <a:ext cx="54864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</a:defRPr>
            </a:pPr>
            <a:r>
              <a:t>保單第三站配置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4,000,000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PIMCO 收益增長 + AI + A10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</a:defRPr>
            </a:pPr>
            <a:r>
              <a:t>+17,500/月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754880"/>
            <a:ext cx="10972800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754880"/>
            <a:ext cx="54864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9BF7"/>
                </a:solidFill>
              </a:defRPr>
            </a:pPr>
            <a:r>
              <a:t>009816 成長型累積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846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~400,000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492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凱基台灣 TOP 50 不配息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5029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9BF7"/>
                </a:solidFill>
              </a:defRPr>
            </a:pPr>
            <a:r>
              <a:t>長期資本利得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7 月至 12 月執行路徑，9 月為關鍵轉折點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Q3 準備 → Q4 執行 → 年底檢視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190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</a:defRPr>
            </a:pPr>
            <a:r>
              <a:t>Q3 · 7月 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7190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國泰轉貸面簽/對保完成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04288"/>
            <a:ext cx="10972800" cy="5486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A8FA0"/>
                </a:solidFill>
              </a:defRPr>
            </a:pPr>
            <a:r>
              <a:t>Q3 · 8月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77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確認轉貸細節 · 逐月買入 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62656"/>
            <a:ext cx="10972800" cy="5486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358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C5C"/>
                </a:solidFill>
              </a:defRPr>
            </a:pPr>
            <a:r>
              <a:t>Q3 · 9/25 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03580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永豐房貸到期 · 國泰撥款 · 清償 4M 保單借貸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21024"/>
            <a:ext cx="10972800" cy="5486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9417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9BF7"/>
                </a:solidFill>
              </a:defRPr>
            </a:pPr>
            <a:r>
              <a:t>Q4 · 10/1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69417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第二階段：安全網 + 辦理築巢優利貸 2.185%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79392"/>
            <a:ext cx="10972800" cy="5486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5254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A01C"/>
                </a:solidFill>
              </a:defRPr>
            </a:pPr>
            <a:r>
              <a:t>Q4 · 10-12月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35254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第三階段：ETF/保單第三站佈局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937759"/>
            <a:ext cx="10972800" cy="5486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0109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A8FA0"/>
                </a:solidFill>
              </a:defRPr>
            </a:pPr>
            <a:r>
              <a:t>Q4 · 12月底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0109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全年檢視成效 · CIO 審查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轉貸後月淨現金流從 -4,099 提升至 +102,259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負債率從 41.8% 降至 ~35%，月現金流改善 +106,358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645920"/>
          <a:ext cx="5943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0" y="1828800"/>
            <a:ext cx="4572000" cy="59436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9019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負債率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D399"/>
                </a:solidFill>
              </a:defRPr>
            </a:pPr>
            <a:r>
              <a:t>41.8% → ~35%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2606040"/>
            <a:ext cx="4572000" cy="59436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26791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房貸月付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697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D399"/>
                </a:solidFill>
              </a:defRPr>
            </a:pPr>
            <a:r>
              <a:t>99,458 → 49,800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3383280"/>
            <a:ext cx="4572000" cy="59436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34564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保單利息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D399"/>
                </a:solidFill>
              </a:defRPr>
            </a:pPr>
            <a:r>
              <a:t>16,000 → 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4160520"/>
            <a:ext cx="4572000" cy="59436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42336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月配息實收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42519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D399"/>
                </a:solidFill>
              </a:defRPr>
            </a:pPr>
            <a:r>
              <a:t>73,000 → 106,500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4937760"/>
            <a:ext cx="4572000" cy="59436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50109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月淨現金流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5029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7A01C"/>
                </a:solidFill>
              </a:defRPr>
            </a:pPr>
            <a:r>
              <a:t>-4,099 → +102,259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利率、審核、市場風險皆可控，執行風險低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每項風險都有對應緩解措施，最壞情境不影響核心財務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C5C"/>
                </a:solidFill>
              </a:defRPr>
            </a:pPr>
            <a:r>
              <a:t>利率上升風險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築巢優利貸若隨央行升息調整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固定利率已鎖 2.185%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轉貸審核未過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無法取得低利資金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國泰已面簽/對保 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房價下跌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LTV 不足須補擔保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負債率 41.8%，安全邊際充足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891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805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ETF 價格下跌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4805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投入本金虧損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4805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分批買入 + 配息保護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3949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保單配息縮水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3949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基金淨值影響配息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53949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分散標的 + 核心衛星配置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結論：每月從 -4,099 到 +102,259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</a:defRPr>
            </a:pPr>
            <a:r>
              <a:t>🎯  清償高利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508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消滅 4M 保單借貸（5%），年省 192K 利息，無風險套利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B9BF7"/>
                </a:solidFill>
              </a:defRPr>
            </a:pPr>
            <a:r>
              <a:t>🛡️  保留韌性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423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3M 理財型額度 + 100K 備用金，財務緩衝充足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7A01C"/>
                </a:solidFill>
              </a:defRPr>
            </a:pPr>
            <a:r>
              <a:t>📈  低利套利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337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2.185% 資金投入 &gt;6% 資產，賺取 ~4% 利差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</a:defRPr>
            </a:pPr>
            <a:r>
              <a:t>💡  現金流翻轉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251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月淨現金流從 -4,099 提升至 +102,259，財務自由加速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