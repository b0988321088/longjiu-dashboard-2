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不動產
33.3M</c:v>
                </c:pt>
                <c:pt idx="1">
                  <c:v>保單
9.8M</c:v>
                </c:pt>
                <c:pt idx="2">
                  <c:v>證券
2.5M</c:v>
                </c:pt>
                <c:pt idx="3">
                  <c:v>現金
3.3M</c:v>
                </c:pt>
                <c:pt idx="4">
                  <c:v>基金
0.8M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33.3</c:v>
                </c:pt>
                <c:pt idx="1">
                  <c:v>9.8</c:v>
                </c:pt>
                <c:pt idx="2">
                  <c:v>2.5</c:v>
                </c:pt>
                <c:pt idx="3">
                  <c:v>3.3</c:v>
                </c:pt>
                <c:pt idx="4">
                  <c:v>0.8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房貸
13.2M</c:v>
                </c:pt>
                <c:pt idx="1">
                  <c:v>理財型
3.0M</c:v>
                </c:pt>
                <c:pt idx="2">
                  <c:v>保單借貸
4.0M</c:v>
                </c:pt>
                <c:pt idx="3">
                  <c:v>質押
1.0M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13.2</c:v>
                </c:pt>
                <c:pt idx="1">
                  <c:v>3.0</c:v>
                </c:pt>
                <c:pt idx="2">
                  <c:v>4.0</c:v>
                </c:pt>
                <c:pt idx="3">
                  <c:v>1.0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收入 (K)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薪資</c:v>
                </c:pt>
                <c:pt idx="1">
                  <c:v>房租</c:v>
                </c:pt>
                <c:pt idx="2">
                  <c:v>保單配息
(扣息後)</c:v>
                </c:pt>
                <c:pt idx="3">
                  <c:v>股息</c:v>
                </c:pt>
                <c:pt idx="4">
                  <c:v>基金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43.1</c:v>
                </c:pt>
                <c:pt idx="1">
                  <c:v>80.1</c:v>
                </c:pt>
                <c:pt idx="2">
                  <c:v>73.0</c:v>
                </c:pt>
                <c:pt idx="3">
                  <c:v>10.0</c:v>
                </c:pt>
                <c:pt idx="4">
                  <c:v>0.6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支出 (K)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房貸
99.5K</c:v>
                </c:pt>
                <c:pt idx="1">
                  <c:v>理財利息
10K</c:v>
                </c:pt>
                <c:pt idx="2">
                  <c:v>保單利息
16K</c:v>
                </c:pt>
                <c:pt idx="3">
                  <c:v>信用卡
38K</c:v>
                </c:pt>
                <c:pt idx="4">
                  <c:v>生活
45K</c:v>
                </c:pt>
                <c:pt idx="5">
                  <c:v>質押
2.5K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99.5</c:v>
                </c:pt>
                <c:pt idx="1">
                  <c:v>10.0</c:v>
                </c:pt>
                <c:pt idx="2">
                  <c:v>16.0</c:v>
                </c:pt>
                <c:pt idx="3">
                  <c:v>38.0</c:v>
                </c:pt>
                <c:pt idx="4">
                  <c:v>45.0</c:v>
                </c:pt>
                <c:pt idx="5">
                  <c:v>2.5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月收入 (K)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轉貸前</c:v>
                </c:pt>
                <c:pt idx="1">
                  <c:v>轉貸後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206.9</c:v>
                </c:pt>
                <c:pt idx="1">
                  <c:v>247.6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月支出 (K)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轉貸前</c:v>
                </c:pt>
                <c:pt idx="1">
                  <c:v>轉貸後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211.0</c:v>
                </c:pt>
                <c:pt idx="1">
                  <c:v>145.3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A0"/>
                </a:solidFill>
              </a:defRPr>
            </a:pPr>
            <a:r>
              <a:t>龍 九 控 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轉貸投資　可行性評估計劃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3657600" cy="36576"/>
          </a:xfrm>
          <a:prstGeom prst="rect">
            <a:avLst/>
          </a:prstGeom>
          <a:solidFill>
            <a:srgbClr val="F7A01C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8FA0"/>
                </a:solidFill>
              </a:defRPr>
            </a:pPr>
            <a:r>
              <a:t>以低利資金優化負債結構 × 提升被動現金流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2026 年 7 月 26 日 ｜ 評估期間：2026 Q3–Q4 ｜ CIO 策略研究室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目錄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2743200" cy="27432"/>
          </a:xfrm>
          <a:prstGeom prst="rect">
            <a:avLst/>
          </a:prstGeom>
          <a:solidFill>
            <a:srgbClr val="F7A01C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01 · 現狀診斷：資產負債結構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02 · 現狀診斷：每月收支缺口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03 · 轉貸方案評估與比較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04 · 三階段資金部署計劃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91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05 · 第一階段：清償高利負債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06 · 第二階段：建立安全網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23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07 · 第三階段：低利擴張投資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389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08 · ETF 建倉策略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54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09 · 保單第三站配置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120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10 · 執行時間表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486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11 · 預期成效對照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852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12 · 敏感度分析與風險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217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13 · 總結與建議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01  現狀診斷：資產負債結構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F7A01C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總資產 50,689,930  ｜  總負債 21,165,869  ｜  負債率 41.8%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828800"/>
          <a:ext cx="5029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0" y="1828800"/>
          <a:ext cx="50292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943600"/>
            <a:ext cx="5029200" cy="4572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8A8FA0"/>
                </a:solidFill>
              </a:defRPr>
            </a:pPr>
            <a:r>
              <a:t>■ 資產以不動產（65.7%）為主，流動性偏低</a:t>
            </a:r>
          </a:p>
          <a:p>
            <a:pPr>
              <a:spcAft>
                <a:spcPts val="400"/>
              </a:spcAft>
              <a:defRPr sz="1100">
                <a:solidFill>
                  <a:srgbClr val="8A8FA0"/>
                </a:solidFill>
              </a:defRPr>
            </a:pPr>
            <a:r>
              <a:t>■ 保單借貸 4M 利率 ~5%，為最高成本負債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5943600"/>
            <a:ext cx="5029200" cy="4572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8A8FA0"/>
                </a:solidFill>
              </a:defRPr>
            </a:pPr>
            <a:r>
              <a:t>■ 三筆房貸利率分散，整合後可降低月付</a:t>
            </a:r>
          </a:p>
          <a:p>
            <a:pPr>
              <a:spcAft>
                <a:spcPts val="400"/>
              </a:spcAft>
              <a:defRPr sz="1100">
                <a:solidFill>
                  <a:srgbClr val="8A8FA0"/>
                </a:solidFill>
              </a:defRPr>
            </a:pPr>
            <a:r>
              <a:t>■ 證券質押 1M 因 0056 凍結暫時無法操作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02  現狀診斷：每月收支缺口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F7A01C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月收入 ~206,859  ｜  月支出 ~210,958  ｜  月缺口 -4,099 ⚠️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828800"/>
          <a:ext cx="5029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0" y="1828800"/>
          <a:ext cx="50292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3200400" y="6126480"/>
            <a:ext cx="4572000" cy="457200"/>
          </a:xfrm>
          <a:prstGeom prst="rect">
            <a:avLst/>
          </a:prstGeom>
          <a:solidFill>
            <a:srgbClr val="2D1B1B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6172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C5C"/>
                </a:solidFill>
              </a:defRPr>
            </a:pPr>
            <a:r>
              <a:t>⚠️ 每月入不敷出，需仰賴保單配息填補缺口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03  轉貸方案評估與比較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F7A01C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3474720" cy="3200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474720" cy="54864"/>
          </a:xfrm>
          <a:prstGeom prst="rect">
            <a:avLst/>
          </a:prstGeom>
          <a:solidFill>
            <a:srgbClr val="F7A01C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A01C"/>
                </a:solidFill>
              </a:defRPr>
            </a:pPr>
            <a:r>
              <a:t>方案A：築巢優利貸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利率 2.185%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A0"/>
                </a:solidFill>
              </a:defRPr>
            </a:pPr>
            <a:r>
              <a:t>月付 49,800/月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✅ 最優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474720" cy="3200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3474720" cy="54864"/>
          </a:xfrm>
          <a:prstGeom prst="rect">
            <a:avLst/>
          </a:prstGeom>
          <a:solidFill>
            <a:srgbClr val="5B9BF7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方案B：國泰轉貸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利率 2.6%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A0"/>
                </a:solidFill>
              </a:defRPr>
            </a:pPr>
            <a:r>
              <a:t>月付 52,500/月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9BF7"/>
                </a:solidFill>
              </a:defRPr>
            </a:pPr>
            <a:r>
              <a:t>⭐ 次佳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3474720" cy="3200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828800"/>
            <a:ext cx="3474720" cy="54864"/>
          </a:xfrm>
          <a:prstGeom prst="rect">
            <a:avLst/>
          </a:prstGeom>
          <a:solidFill>
            <a:srgbClr val="FF5C5C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C5C"/>
                </a:solidFill>
              </a:defRPr>
            </a:pPr>
            <a:r>
              <a:t>方案C：維持現狀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利率 ~2.5%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A0"/>
                </a:solidFill>
              </a:defRPr>
            </a:pPr>
            <a:r>
              <a:t>月付 99,458/月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C5C"/>
                </a:solidFill>
              </a:defRPr>
            </a:pPr>
            <a:r>
              <a:t>❌ 不佳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23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8A8FA0"/>
                </a:solidFill>
              </a:defRPr>
            </a:pPr>
            <a:r>
              <a:t>推薦方案 A：築巢優利貸 2.185% ｜ 公務員專案，資格符合</a:t>
            </a:r>
          </a:p>
          <a:p>
            <a:pPr>
              <a:spcAft>
                <a:spcPts val="400"/>
              </a:spcAft>
              <a:defRPr sz="1400">
                <a:solidFill>
                  <a:srgbClr val="8A8FA0"/>
                </a:solidFill>
              </a:defRPr>
            </a:pPr>
            <a:r>
              <a:t>每月房貸從 99,458 降至 49,800，月省 49,658 ｜ 轉貸資金可同步清償 4M 保單借貸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04  三階段資金部署計劃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F7A01C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474720" cy="45720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47472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第一階段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清償高利負債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資金 4,000,000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</a:defRPr>
            </a:pPr>
            <a:r>
              <a:t>月省 16,000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清償安聯A 2M</a:t>
            </a:r>
          </a:p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安聯B 1M</a:t>
            </a:r>
          </a:p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第一金 FL65 1M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3474720" cy="45720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474720" cy="54864"/>
          </a:xfrm>
          <a:prstGeom prst="rect">
            <a:avLst/>
          </a:prstGeom>
          <a:solidFill>
            <a:srgbClr val="5B9BF7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第二階段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9BF7"/>
                </a:solidFill>
              </a:defRPr>
            </a:pPr>
            <a:r>
              <a:t>建立安全網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資金 3,100,000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F7"/>
                </a:solidFill>
              </a:defRPr>
            </a:pPr>
            <a:r>
              <a:t>備援無虞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0233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保留理財型額度 3M</a:t>
            </a:r>
          </a:p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補足星展備用金 100K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645920"/>
            <a:ext cx="3474720" cy="45720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645920"/>
            <a:ext cx="3474720" cy="54864"/>
          </a:xfrm>
          <a:prstGeom prst="rect">
            <a:avLst/>
          </a:prstGeom>
          <a:solidFill>
            <a:srgbClr val="F7A01C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第三階段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A01C"/>
                </a:solidFill>
              </a:defRPr>
            </a:pPr>
            <a:r>
              <a:t>低利擴張投資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資金 ~3,000,000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7A01C"/>
                </a:solidFill>
              </a:defRPr>
            </a:pPr>
            <a:r>
              <a:t>月增 ~7,000↑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0233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ETF 分批建倉</a:t>
            </a:r>
          </a:p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保單第三站 400 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05  第一階段：清償高利負債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34D399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撥款後 D+1 立即執行  ｜  消除年化 5% 利息支出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</a:defRPr>
            </a:pPr>
            <a:r>
              <a:t>安聯A 保單借貸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5C5C"/>
                </a:solidFill>
              </a:defRPr>
            </a:pPr>
            <a:r>
              <a:t>利率 ~5%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月省 ~8,000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</a:defRPr>
            </a:pPr>
            <a:r>
              <a:t>安聯B 保單借貸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1,000,000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5C5C"/>
                </a:solidFill>
              </a:defRPr>
            </a:pPr>
            <a:r>
              <a:t>利率 ~5%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月省 ~4,000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</a:defRPr>
            </a:pPr>
            <a:r>
              <a:t>第一金 FL65 保單借貸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1,000,000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5C5C"/>
                </a:solidFill>
              </a:defRPr>
            </a:pPr>
            <a:r>
              <a:t>利率 ~5%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月省 ~4,000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solidFill>
            <a:srgbClr val="0D2B1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806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4D399"/>
                </a:solidFill>
              </a:defRPr>
            </a:pPr>
            <a:r>
              <a:t>✅ 清償後保單配息全額實領：73,000 → 89,000（+16,000/月）</a:t>
            </a:r>
          </a:p>
          <a:p>
            <a:pPr>
              <a:spcAft>
                <a:spcPts val="400"/>
              </a:spcAft>
              <a:defRPr sz="1300">
                <a:solidFill>
                  <a:srgbClr val="34D399"/>
                </a:solidFill>
              </a:defRPr>
            </a:pPr>
            <a:r>
              <a:t>✅ 年化節省利息：192,000  ｜  無提前清償違約金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06  第二階段：建立安全網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5B9BF7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9BF7"/>
                </a:solidFill>
              </a:defRPr>
            </a:pPr>
            <a:r>
              <a:t>保留理財型房貸額度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3,000,000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不關閉，備而不用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7A01C"/>
                </a:solidFill>
              </a:defRPr>
            </a:pPr>
            <a:r>
              <a:t>黑天鵝緩衝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74720"/>
            <a:ext cx="109728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118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9BF7"/>
                </a:solidFill>
              </a:defRPr>
            </a:pPr>
            <a:r>
              <a:t>星展活存補足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6118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目前 17,000 → 補至 100K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7A01C"/>
                </a:solidFill>
              </a:defRPr>
            </a:pPr>
            <a:r>
              <a:t>6 個月生活費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40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8A8FA0"/>
                </a:solidFill>
              </a:defRPr>
            </a:pPr>
            <a:r>
              <a:t>安全網設計原則：不動用不計息，保留財務韌性</a:t>
            </a:r>
          </a:p>
          <a:p>
            <a:pPr>
              <a:spcAft>
                <a:spcPts val="400"/>
              </a:spcAft>
              <a:defRPr sz="1300">
                <a:solidFill>
                  <a:srgbClr val="8A8FA0"/>
                </a:solidFill>
              </a:defRPr>
            </a:pPr>
            <a:r>
              <a:t>理財型房貸特色：隨借隨還，按日計息，最適合緊急備援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07  第三階段：低利擴張投資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F7A01C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資金成本 2.185%  ｜  目標報酬率 &gt; 6%  ｜  利差 ~4%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4864" cy="1097280"/>
          </a:xfrm>
          <a:prstGeom prst="rect">
            <a:avLst/>
          </a:prstGeom>
          <a:solidFill>
            <a:srgbClr val="34D399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台股 ETF 核心建倉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~1,200,000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逐月買入 00983D/00919/00878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預估 +7,200/月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1097280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54864" cy="1097280"/>
          </a:xfrm>
          <a:prstGeom prst="rect">
            <a:avLst/>
          </a:prstGeom>
          <a:solidFill>
            <a:srgbClr val="A78BFA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保單第三站配置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4,000,000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PIMCO 收益增長 + AI + A10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</a:defRPr>
            </a:pPr>
            <a:r>
              <a:t>預估 +17,500/月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1097280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754880"/>
            <a:ext cx="54864" cy="1097280"/>
          </a:xfrm>
          <a:prstGeom prst="rect">
            <a:avLst/>
          </a:prstGeom>
          <a:solidFill>
            <a:srgbClr val="5B9BF7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009816 成長型累積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846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~400,000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凱基台灣 TOP 50 不配息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9BF7"/>
                </a:solidFill>
              </a:defRPr>
            </a:pPr>
            <a:r>
              <a:t>長期資本利得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08  ETF 建倉策略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34D399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00983D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主動富邦複合收益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10→100張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每月除息後買 10 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</a:defRPr>
            </a:pPr>
            <a:r>
              <a:t>月配/債+股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00919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群益精選高息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補至 10 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除息後補滿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</a:defRPr>
            </a:pPr>
            <a:r>
              <a:t>季配/高股息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00878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國泰永續高股息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補至 20 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除息後補滿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</a:defRPr>
            </a:pPr>
            <a:r>
              <a:t>季配/高股息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891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805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009816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4805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凱基台灣TOP50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4805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16→30張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4805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每月累積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4805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9BF7"/>
                </a:solidFill>
              </a:defRPr>
            </a:pPr>
            <a:r>
              <a:t>不配息/成長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949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0050/006208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3949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台灣50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3949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各 2→5 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3949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季線以下買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53949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78BFA"/>
                </a:solidFill>
              </a:defRPr>
            </a:pPr>
            <a:r>
              <a:t>半年配/市值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09  保單第三站配置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A78BFA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總資金 4,000,000  ｜  資產配置：47% 債券 + 53% 科技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0972800" cy="10058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</a:defRPr>
            </a:pPr>
            <a:r>
              <a:t>PIMCO 收益增長 M 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</a:defRPr>
            </a:pPr>
            <a:r>
              <a:t>47%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1,880,000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~8,000/月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債券為主 + 股票增益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10972800" cy="10058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</a:defRPr>
            </a:pPr>
            <a:r>
              <a:t>安聯 AI 收益成長 B 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83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</a:defRPr>
            </a:pPr>
            <a: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1,200,000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~5,500/月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多重資產 + AI 主題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10972800" cy="10058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</a:defRPr>
            </a:pPr>
            <a:r>
              <a:t>貝萊德世界科技 A10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663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</a:defRPr>
            </a:pPr>
            <a:r>
              <a:t>23%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920,000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~4,000/月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科技股 + 月配息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69280"/>
            <a:ext cx="10972800" cy="6400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8A8FA0"/>
                </a:solidFill>
              </a:defRPr>
            </a:pPr>
            <a:r>
              <a:t>預計月配息合計 ~17,500  ｜  註：第三站已在第一金 FL65 轉換中，7 月底入帳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10  執行時間表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F7A01C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</a:defRPr>
            </a:pPr>
            <a:r>
              <a:t>Q3 7月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737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國泰轉貸面簽/對保完成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A8FA0"/>
                </a:solidFill>
              </a:defRPr>
            </a:pPr>
            <a:r>
              <a:t>Q3 8月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423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確認轉貸細節 · 逐月買入 ETF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C5C"/>
                </a:solidFill>
              </a:defRPr>
            </a:pPr>
            <a:r>
              <a:t>Q3 9/25 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108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永豐房貸到期 · 國泰撥款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94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</a:defRPr>
            </a:pPr>
            <a:r>
              <a:t>Q3 9月底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79475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第一階段：清償 4M 保單借貸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805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9BF7"/>
                </a:solidFill>
              </a:defRPr>
            </a:pPr>
            <a:r>
              <a:t>Q4 10/1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48055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第二階段：安全網 + 辦理築巢優利貸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74920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663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A01C"/>
                </a:solidFill>
              </a:defRPr>
            </a:pPr>
            <a:r>
              <a:t>Q4 10-12月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16635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第三階段：ETF/保單佈局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8521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A8FA0"/>
                </a:solidFill>
              </a:defRPr>
            </a:pPr>
            <a:r>
              <a:t>Q4 12月底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85215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全年檢視成效 · CIO 審查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11  預期成效對照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34D399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45920"/>
          <a:ext cx="5943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858000" y="1828800"/>
            <a:ext cx="45720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負債率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41.8% → ~35%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2560320"/>
            <a:ext cx="45720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房貸月付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99,458 → 49,800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3291840"/>
            <a:ext cx="45720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保單利息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16,000 →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4023360"/>
            <a:ext cx="45720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月配息實收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73,000 → 106,500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4754880"/>
            <a:ext cx="45720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4846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月淨現金流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-4,099 → +102,259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12  敏感度分析與風險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FF5C5C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5C5C"/>
                </a:solidFill>
              </a:defRPr>
            </a:pPr>
            <a:r>
              <a:t>利率上升風險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築巢優利貸若隨央行升息調整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✅ 固定利率已鎖 2.185%，影響有限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A01C"/>
                </a:solidFill>
              </a:defRPr>
            </a:pPr>
            <a:r>
              <a:t>轉貸審核未過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無法取得低利資金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✅ 國泰已面簽/對保 ✅ 風險極低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A01C"/>
                </a:solidFill>
              </a:defRPr>
            </a:pPr>
            <a:r>
              <a:t>房價下跌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LTV 不足需補擔保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✅ 負債率 41.8%，安全邊際充足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805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A01C"/>
                </a:solidFill>
              </a:defRPr>
            </a:pPr>
            <a:r>
              <a:t>ETF 價格下跌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4805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投入本金虧損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4805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✅ 分批買入 + 配息保護 + 長期持有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949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A01C"/>
                </a:solidFill>
              </a:defRPr>
            </a:pPr>
            <a:r>
              <a:t>保單配息縮水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基金淨值波動影響配息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✅ 分散標的 + 核心衛星配置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13  總結與建議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F7A01C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🎯  清償高利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508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優先消滅 4M 保單借貸（5%），年省 192K 利息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9BF7"/>
                </a:solidFill>
              </a:defRPr>
            </a:pPr>
            <a:r>
              <a:t>🛡️  保留韌性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23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保留 3M 理財型額度 + 補足備用金 100K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A01C"/>
                </a:solidFill>
              </a:defRPr>
            </a:pPr>
            <a:r>
              <a:t>📈  低利套利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337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2.185% 資金投入 &gt;6% 收益資產，賺取 ~4% 利差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</a:defRPr>
            </a:pPr>
            <a:r>
              <a:t>📊  分批建倉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ETF 逐月買入 + 保單第三站 400 萬，分散風險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💡  現金流翻轉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166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月淨現金流從 -4,099 提升至 +102,259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本計劃由龍九控股 CIO 策略研究室製作  ｜  數據來源：snapshot.json / dragon_assets.db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